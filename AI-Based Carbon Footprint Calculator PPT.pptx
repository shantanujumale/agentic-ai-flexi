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EZmF6qK15dp2J2df4VwJECGCI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4232" y="2966411"/>
            <a:ext cx="12192000" cy="707886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defRPr sz="3800" b="1">
                <a:solidFill>
                  <a:srgbClr val="104430"/>
                </a:solidFill>
                <a:latin typeface="Times New Roman"/>
              </a:defRPr>
            </a:pPr>
            <a:r>
              <a:t>Agentic AI Personal Carbon Footprint System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sz="1800" b="1" i="0" u="none" strike="noStrike" cap="non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Times New Roman"/>
              </a:defRPr>
            </a:pPr>
            <a:r>
              <a:t>Mini Project Presentation — Flexi Credit Course: Agentic AI &amp; Automation</a:t>
            </a:r>
          </a:p>
        </p:txBody>
      </p:sp>
      <p:sp>
        <p:nvSpPr>
          <p:cNvPr id="91" name="Google Shape;91;p1"/>
          <p:cNvSpPr txBox="1"/>
          <p:nvPr/>
        </p:nvSpPr>
        <p:spPr>
          <a:xfrm>
            <a:off x="2868201" y="4003286"/>
            <a:ext cx="639009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Presenter: Shantanu Jumale (PRN: 24070521096)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Department: Computer Science &amp; Engineering (Semester 5)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Under the guidance of: Dr. Shreyash Hole, Assistant Professor</a:t>
            </a:r>
          </a:p>
        </p:txBody>
      </p:sp>
      <p:grpSp>
        <p:nvGrpSpPr>
          <p:cNvPr id="92" name="Google Shape;92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70" name="Google Shape;170;p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01. Problem Statements: The Climate Emergency &amp; Individual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01 | Problem Statements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The Global GHG Accounting Imperative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Planetary Emergency: </a:t>
            </a:r>
            <a:r>
              <a:rPr>
                <a:solidFill>
                  <a:srgbClr val="334155"/>
                </a:solidFill>
              </a:rPr>
              <a:t>Global surface temperature anomaly exceeds +1.1°C above pre-industrial baselines; IPCC AR6 urges immediate intervention to avert the 1.5°C threshold.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Individual Impact: </a:t>
            </a:r>
            <a:r>
              <a:rPr>
                <a:solidFill>
                  <a:srgbClr val="334155"/>
                </a:solidFill>
              </a:rPr>
              <a:t>Lifecycle assessments prove household and personal consumption decisions directly and indirectly drive over 65% of global GHG emissions.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Scope 1 (Direct): </a:t>
            </a:r>
            <a:r>
              <a:rPr>
                <a:solidFill>
                  <a:srgbClr val="334155"/>
                </a:solidFill>
              </a:rPr>
              <a:t>Fossil fuel combustion in private transport (petrol/diesel cars, 2-wheelers) and residential cooking (LPG, PNG).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Scope 2 (Electricity): </a:t>
            </a:r>
            <a:r>
              <a:rPr>
                <a:solidFill>
                  <a:srgbClr val="334155"/>
                </a:solidFill>
              </a:rPr>
              <a:t>Purchased grid electricity for residential cooling, air conditioning, and household appliances.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Scope 3 (Embedded): </a:t>
            </a:r>
            <a:r>
              <a:rPr>
                <a:solidFill>
                  <a:srgbClr val="334155"/>
                </a:solidFill>
              </a:rPr>
              <a:t>Supply chain emissions embedded in dietary choices (meat vs. plant-based) and municipal landfill waste disposal.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The Behavioral Intention-Action Gap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High Awareness, Zero Tools: </a:t>
            </a:r>
            <a:r>
              <a:rPr>
                <a:solidFill>
                  <a:srgbClr val="334155"/>
                </a:solidFill>
              </a:rPr>
              <a:t>While citizen climate consciousness is surging, individuals face massive cognitive overload and lack tools for granular, personalized carbon accounting.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The 'Action Gap': </a:t>
            </a:r>
            <a:r>
              <a:rPr>
                <a:solidFill>
                  <a:srgbClr val="334155"/>
                </a:solidFill>
              </a:rPr>
              <a:t>Citizens aspire to live sustainably but cannot identify which daily interventions yield the highest mathematical emission reduction.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National Mandates: </a:t>
            </a:r>
            <a:r>
              <a:rPr>
                <a:solidFill>
                  <a:srgbClr val="334155"/>
                </a:solidFill>
              </a:rPr>
              <a:t>Directly addresses India's COP26 'Panchamrit' goals (Net-Zero by 2070, 500 GW renewable energy) and NITI Aayog's Mission LiFE.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Mission LiFE (Lifestyle for Environment): </a:t>
            </a:r>
            <a:r>
              <a:rPr>
                <a:solidFill>
                  <a:srgbClr val="334155"/>
                </a:solidFill>
              </a:rPr>
              <a:t>Mobilizes citizens to replace mindless consumption with mindful, measured utilization through verifiable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01. Problem Statements: Legacy Calculators &amp; LLM Hallucinations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01 | Problem Statements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B91C1C"/>
                </a:solidFill>
                <a:latin typeface="Times New Roman"/>
              </a:defRPr>
            </a:pPr>
            <a:r>
              <a:t>Flaws of Existing Online Calculators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Static &amp; Tedious: </a:t>
            </a:r>
            <a:r>
              <a:rPr>
                <a:solidFill>
                  <a:srgbClr val="334155"/>
                </a:solidFill>
              </a:rPr>
              <a:t>Require answering 30+ tedious retrospective questions; highly abandoned by users with zero real-time interactivity.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Opaque Foreign Factors: </a:t>
            </a:r>
            <a:r>
              <a:rPr>
                <a:solidFill>
                  <a:srgbClr val="334155"/>
                </a:solidFill>
              </a:rPr>
              <a:t>Frequently employ foreign (US/UK) emission factors that fail to reflect India's coal-heavy grid intensity (0.820 kg CO₂e/kWh).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Absence of Longitude: </a:t>
            </a:r>
            <a:r>
              <a:rPr>
                <a:solidFill>
                  <a:srgbClr val="334155"/>
                </a:solidFill>
              </a:rPr>
              <a:t>Operate as one-off annual tools; offer zero monthly progression tracking, drift alerts, or dynamic re-planning.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Non-Actionable Advice: </a:t>
            </a:r>
            <a:r>
              <a:rPr>
                <a:solidFill>
                  <a:srgbClr val="334155"/>
                </a:solidFill>
              </a:rPr>
              <a:t>Provide generic platitudes ('use public transport', 'plant trees') without quantified return on investment.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B91C1C"/>
                </a:solidFill>
                <a:latin typeface="Times New Roman"/>
              </a:defRPr>
            </a:pPr>
            <a:r>
              <a:t>The Flaw of LLM Arithmetic Hallucination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Next-Token Predictors: </a:t>
            </a:r>
            <a:r>
              <a:rPr>
                <a:solidFill>
                  <a:srgbClr val="334155"/>
                </a:solidFill>
              </a:rPr>
              <a:t>Generative LLMs are probabilistic text models; they do not perform true symbolic arithmetic or adhere to conservation of mass.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Stoichiometric Errors: </a:t>
            </a:r>
            <a:r>
              <a:rPr>
                <a:solidFill>
                  <a:srgbClr val="334155"/>
                </a:solidFill>
              </a:rPr>
              <a:t>When tasked with carbon accounting, LLMs routinely fabricate non-existent conversion factors and make arithmetic errors.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Lack of Reproducibility: </a:t>
            </a:r>
            <a:r>
              <a:rPr>
                <a:solidFill>
                  <a:srgbClr val="334155"/>
                </a:solidFill>
              </a:rPr>
              <a:t>Identical prompts yield conflicting numerical calculations, destroying scientific credibility and regulatory auditability.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The Architectural Imperative: </a:t>
            </a:r>
            <a:r>
              <a:rPr>
                <a:solidFill>
                  <a:srgbClr val="334155"/>
                </a:solidFill>
              </a:rPr>
              <a:t>A strict decoupling: natural language semantic parsing handled by agents, while certified Python routines execute exact arithmetic.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02. Research Initiatives: Autonomous Multi-Agent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02 | 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33832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1. Core &amp; Architecture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Deterministic Engine: </a:t>
            </a:r>
            <a:r>
              <a:rPr>
                <a:solidFill>
                  <a:srgbClr val="334155"/>
                </a:solidFill>
              </a:rPr>
              <a:t>Build an unhackable carbon accounting core strictly forbidding LLMs from performing math.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Certified Standards: </a:t>
            </a:r>
            <a:r>
              <a:rPr>
                <a:solidFill>
                  <a:srgbClr val="334155"/>
                </a:solidFill>
              </a:rPr>
              <a:t>Ground formulas in CEA India v19, IPCC 2019, DEFRA 2023, and Science 2018.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Multi-Agent Pipeline: </a:t>
            </a:r>
            <a:r>
              <a:rPr>
                <a:solidFill>
                  <a:srgbClr val="334155"/>
                </a:solidFill>
              </a:rPr>
              <a:t>Orchestrate 7 specialized agents under a centralized Pydantic v2 session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3832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2. ML &amp; Simulation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Predictive ML: </a:t>
            </a:r>
            <a:r>
              <a:rPr>
                <a:solidFill>
                  <a:srgbClr val="334155"/>
                </a:solidFill>
              </a:rPr>
              <a:t>Benchmark 5 regression models across MAE, RMSE, and R² for time-series forecasting.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What-If Sandbox: </a:t>
            </a:r>
            <a:r>
              <a:rPr>
                <a:solidFill>
                  <a:srgbClr val="334155"/>
                </a:solidFill>
              </a:rPr>
              <a:t>Simulate multi-variable counterfactual shifts (EVs, solar PV, modal transit) with delta metrics.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Greedy Optimization: </a:t>
            </a:r>
            <a:r>
              <a:rPr>
                <a:solidFill>
                  <a:srgbClr val="334155"/>
                </a:solidFill>
              </a:rPr>
              <a:t>Algorithmically select minimal-effort interventions satisfying target % reductions.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05840"/>
            <a:ext cx="33832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3. Feedback &amp; UI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Longitudinal Loop: </a:t>
            </a:r>
            <a:r>
              <a:rPr>
                <a:solidFill>
                  <a:srgbClr val="334155"/>
                </a:solidFill>
              </a:rPr>
              <a:t>Persist multi-month logs in SQLite, flag category surges, and dynamically re-plan.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Gradio 6 Dashboard: </a:t>
            </a:r>
            <a:r>
              <a:rPr>
                <a:solidFill>
                  <a:srgbClr val="334155"/>
                </a:solidFill>
              </a:rPr>
              <a:t>Deploy modern emerald glassmorphism UI with interactive Plotly telemetry.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100% Test Coverage: </a:t>
            </a:r>
            <a:r>
              <a:rPr>
                <a:solidFill>
                  <a:srgbClr val="334155"/>
                </a:solidFill>
              </a:rPr>
              <a:t>Verify system integrity across 15 automated unit and integration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02. Research Initiatives: Certified GHG Accounting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02 | Certified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65836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Certified Environmental Provenance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Electricity (CEA India v19): </a:t>
            </a:r>
            <a:r>
              <a:rPr>
                <a:solidFill>
                  <a:srgbClr val="334155"/>
                </a:solidFill>
              </a:rPr>
              <a:t>0.820 kg CO₂e/kWh combined margin baseline for the Indian National Grid; 0.040 kg/kWh solar PV lifecycle embodied offset.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Transportation (UK DEFRA 2023): </a:t>
            </a:r>
            <a:r>
              <a:rPr>
                <a:solidFill>
                  <a:srgbClr val="334155"/>
                </a:solidFill>
              </a:rPr>
              <a:t>Petrol Car: 0.170 kg/km | Diesel Car: 0.171 kg/km | EV: 0.053 kg/km | 2-Wheeler: 0.114 kg/km | Bus: 0.096 kg/km | Metro: 0.028 kg/km.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Cooking Fuels (IPCC Tier-1): </a:t>
            </a:r>
            <a:r>
              <a:rPr>
                <a:solidFill>
                  <a:srgbClr val="334155"/>
                </a:solidFill>
              </a:rPr>
              <a:t>Stoichiometric combustion factors: LPG = 2.983 kg CO₂e/kg | Piped Natural Gas (PNG) = 1.968 kg CO₂e/m³.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Dietary Lifecycles (Science 2018): </a:t>
            </a:r>
            <a:r>
              <a:rPr>
                <a:solidFill>
                  <a:srgbClr val="334155"/>
                </a:solidFill>
              </a:rPr>
              <a:t>Poore &amp; Nemecek meta-analysis: Vegan (2.89 kg/day), Vegetarian (3.81 kg/day), Moderate Meat (5.63 kg/day), Heavy Meat (7.19 kg/day).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Circular Waste (US EPA WARM v15): </a:t>
            </a:r>
            <a:r>
              <a:rPr>
                <a:solidFill>
                  <a:srgbClr val="334155"/>
                </a:solidFill>
              </a:rPr>
              <a:t>Landfill methane penalty (0.586 kg/kg) balanced by certified recycling (-0.320 kg/kg) and composting (-0.180 kg/kg) avoidance credits.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005840"/>
            <a:ext cx="384048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ctr"/>
          <a:lstStyle/>
          <a:p>
            <a:pPr algn="ctr">
              <a:defRPr sz="2000" b="1">
                <a:solidFill>
                  <a:srgbClr val="059669"/>
                </a:solidFill>
                <a:latin typeface="Arial"/>
              </a:defRPr>
            </a:pPr>
            <a:r>
              <a:t>0.820 kg/kWh</a:t>
            </a:r>
          </a:p>
          <a:p>
            <a:pPr algn="ctr"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t>CEA India Grid Baseline</a:t>
            </a:r>
          </a:p>
          <a:p>
            <a:pPr algn="ctr">
              <a:defRPr sz="950">
                <a:solidFill>
                  <a:srgbClr val="64748B"/>
                </a:solidFill>
                <a:latin typeface="Times New Roman"/>
              </a:defRPr>
            </a:pPr>
            <a:r>
              <a:t>Official v19 Database (2023)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331720"/>
            <a:ext cx="384048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ctr"/>
          <a:lstStyle/>
          <a:p>
            <a:pPr algn="ctr">
              <a:defRPr sz="2000" b="1">
                <a:solidFill>
                  <a:srgbClr val="059669"/>
                </a:solidFill>
                <a:latin typeface="Arial"/>
              </a:defRPr>
            </a:pPr>
            <a:r>
              <a:t>158.3 kg/mo</a:t>
            </a:r>
          </a:p>
          <a:p>
            <a:pPr algn="ctr"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t>India Per-Capita Average</a:t>
            </a:r>
          </a:p>
          <a:p>
            <a:pPr algn="ctr">
              <a:defRPr sz="950">
                <a:solidFill>
                  <a:srgbClr val="64748B"/>
                </a:solidFill>
                <a:latin typeface="Times New Roman"/>
              </a:defRPr>
            </a:pPr>
            <a:r>
              <a:t>1,900 kg CO₂e / year per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657600"/>
            <a:ext cx="384048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ctr"/>
          <a:lstStyle/>
          <a:p>
            <a:pPr algn="ctr">
              <a:defRPr sz="2000" b="1">
                <a:solidFill>
                  <a:srgbClr val="059669"/>
                </a:solidFill>
                <a:latin typeface="Arial"/>
              </a:defRPr>
            </a:pPr>
            <a:r>
              <a:t>391.7 kg/mo</a:t>
            </a:r>
          </a:p>
          <a:p>
            <a:pPr algn="ctr"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t>Global Per-Capita Baseline</a:t>
            </a:r>
          </a:p>
          <a:p>
            <a:pPr algn="ctr">
              <a:defRPr sz="950">
                <a:solidFill>
                  <a:srgbClr val="64748B"/>
                </a:solidFill>
                <a:latin typeface="Times New Roman"/>
              </a:defRPr>
            </a:pPr>
            <a:r>
              <a:t>4,700 kg CO₂e / year per person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983480"/>
            <a:ext cx="384048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ctr"/>
          <a:lstStyle/>
          <a:p>
            <a:pPr algn="ctr">
              <a:defRPr sz="2000" b="1">
                <a:solidFill>
                  <a:srgbClr val="059669"/>
                </a:solidFill>
                <a:latin typeface="Arial"/>
              </a:defRPr>
            </a:pPr>
            <a:r>
              <a:t>-0.320 kg/kg</a:t>
            </a:r>
          </a:p>
          <a:p>
            <a:pPr algn="ctr"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t>Recycling Avoidance Credit</a:t>
            </a:r>
          </a:p>
          <a:p>
            <a:pPr algn="ctr">
              <a:defRPr sz="950">
                <a:solidFill>
                  <a:srgbClr val="64748B"/>
                </a:solidFill>
                <a:latin typeface="Times New Roman"/>
              </a:defRPr>
            </a:pPr>
            <a:r>
              <a:t>Displaces virgin material smelting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03. Existing Processes &amp; Solutions: Critical Review of Prior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03 | Existing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33832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WWF Footprint Calculator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Overview: </a:t>
            </a:r>
            <a:r>
              <a:rPr>
                <a:solidFill>
                  <a:srgbClr val="334155"/>
                </a:solidFill>
              </a:rPr>
              <a:t>Popular lifestyle questionnaire assessing food, home, travel, and personal purchases.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Strengths: </a:t>
            </a:r>
            <a:r>
              <a:rPr>
                <a:solidFill>
                  <a:srgbClr val="334155"/>
                </a:solidFill>
              </a:rPr>
              <a:t>Visually engaging, gamified interface with broad global adoption.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Deficiencies: </a:t>
            </a:r>
            <a:r>
              <a:rPr>
                <a:solidFill>
                  <a:srgbClr val="334155"/>
                </a:solidFill>
              </a:rPr>
              <a:t>UK-centric grid coefficients; one-off annual figure; no monthly progression tracking; zero automated reduction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3832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US EPA Household Tool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Overview: </a:t>
            </a:r>
            <a:r>
              <a:rPr>
                <a:solidFill>
                  <a:srgbClr val="334155"/>
                </a:solidFill>
              </a:rPr>
              <a:t>Official spreadsheet and web form calculating residential energy, transit, and waste.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Strengths: </a:t>
            </a:r>
            <a:r>
              <a:rPr>
                <a:solidFill>
                  <a:srgbClr val="334155"/>
                </a:solidFill>
              </a:rPr>
              <a:t>Grounded in US eGRID regional data; transparent formulas.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Deficiencies: </a:t>
            </a:r>
            <a:r>
              <a:rPr>
                <a:solidFill>
                  <a:srgbClr val="334155"/>
                </a:solidFill>
              </a:rPr>
              <a:t>Rigid manual utility bill entry; no conversational interface; no What-If simulation sandbox; zero ML predictive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05840"/>
            <a:ext cx="33832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Carbon Footprint Ltd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Overview: </a:t>
            </a:r>
            <a:r>
              <a:rPr>
                <a:solidFill>
                  <a:srgbClr val="334155"/>
                </a:solidFill>
              </a:rPr>
              <a:t>Commercial enterprise portal supporting international flight and utility carbon calculation.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Strengths: </a:t>
            </a:r>
            <a:r>
              <a:rPr>
                <a:solidFill>
                  <a:srgbClr val="334155"/>
                </a:solidFill>
              </a:rPr>
              <a:t>Supports global factor lookup tables and corporate Scope 1-3 auditing.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Deficiencies: </a:t>
            </a:r>
            <a:r>
              <a:rPr>
                <a:solidFill>
                  <a:srgbClr val="334155"/>
                </a:solidFill>
              </a:rPr>
              <a:t>Complex interface designed for carbon offsetting; no agentic intelligence; zero longitudinal feedback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04. Compare &amp; Contrast Alternative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04 | Compare &amp; Contrast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00584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Proposed Agentic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WWF Calculator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US EPA Tool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Carbon Footprint Ltd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Generic LLM (ChatGPT)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Arithmetic Provability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100% Deterministic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Static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Static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Static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Hallucination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CEA India Grid v19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YES (0.820 kg/kWh)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 (UK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 (US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Unreliable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Multi-Agent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YES (7 Agents)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ML Predictive Forecast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YES (R² = 0.9991)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What-If Counterfactuals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YES (Real-Time)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Circular Waste Credits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YES (WARM Net)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100% Offline Capable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YES (Zero Cloud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 (Cloud)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YES (Excel)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 (Cloud)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 (Cloud)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&lt; 20 milliseconds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2 - 5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3 - 5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1 - 4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05. Problem Modeling: Collaborative 7-Agent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05 | Problem Modeling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7-Stage Agent Orchestration Pipeline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Agent 1: Input / Intent Agent: </a:t>
            </a:r>
            <a:r>
              <a:rPr>
                <a:solidFill>
                  <a:srgbClr val="334155"/>
                </a:solidFill>
              </a:rPr>
              <a:t>Extracts structured activity entities from natural language narratives or form sliders without inventing missing values.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Agent 2: Validation Agent: </a:t>
            </a:r>
            <a:r>
              <a:rPr>
                <a:solidFill>
                  <a:srgbClr val="334155"/>
                </a:solidFill>
              </a:rPr>
              <a:t>Enforces physical sanity bounds and normalizes timeframes to standardized monthly figures.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Deterministic Accounting Engine: </a:t>
            </a:r>
            <a:r>
              <a:rPr>
                <a:solidFill>
                  <a:srgbClr val="334155"/>
                </a:solidFill>
              </a:rPr>
              <a:t>Queries SQLite for certified factors; executes exact arithmetic with zero math hallucinations.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Agent 3: Emission Analysis Agent: </a:t>
            </a:r>
            <a:r>
              <a:rPr>
                <a:solidFill>
                  <a:srgbClr val="334155"/>
                </a:solidFill>
              </a:rPr>
              <a:t>Performs hotspot ranking and benchmarks against Indian (~158 kg) and global (~392 kg) averages.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Agent 4: ML Prediction Agent: </a:t>
            </a:r>
            <a:r>
              <a:rPr>
                <a:solidFill>
                  <a:srgbClr val="334155"/>
                </a:solidFill>
              </a:rPr>
              <a:t>Constructs lag/rolling feature vectors to forecast future monthly trajectories.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Agent 5: Reduction Planning Agent: </a:t>
            </a:r>
            <a:r>
              <a:rPr>
                <a:solidFill>
                  <a:srgbClr val="334155"/>
                </a:solidFill>
              </a:rPr>
              <a:t>Executes greedy knapsack optimization satisfying user reduction targets.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Agent 6 &amp; 7: Monitoring &amp; Advisor: </a:t>
            </a:r>
            <a:r>
              <a:rPr>
                <a:solidFill>
                  <a:srgbClr val="334155"/>
                </a:solidFill>
              </a:rPr>
              <a:t>Detects longitudinal drift in SQLite and delivers tool-augmented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Pydantic State Coordination &amp; Decoupling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Centralized Session State: </a:t>
            </a:r>
            <a:r>
              <a:rPr>
                <a:solidFill>
                  <a:srgbClr val="334155"/>
                </a:solidFill>
              </a:rPr>
              <a:t>Managed through an immutable UserState Pydantic v2 schema ensuring seamless, decoupled agent handoffs.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Separation of Concerns: </a:t>
            </a:r>
            <a:r>
              <a:rPr>
                <a:solidFill>
                  <a:srgbClr val="334155"/>
                </a:solidFill>
              </a:rPr>
              <a:t>Natural language reasoning is strictly separated from mathematical computation. Agents interpret context; Python executes math.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Execution Traceability: </a:t>
            </a:r>
            <a:r>
              <a:rPr>
                <a:solidFill>
                  <a:srgbClr val="334155"/>
                </a:solidFill>
              </a:rPr>
              <a:t>Every advice response displays the exact deterministic Python tool calls executed, parameters passed, and returned metrics.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Full Auditability: </a:t>
            </a:r>
            <a:r>
              <a:rPr>
                <a:solidFill>
                  <a:srgbClr val="334155"/>
                </a:solidFill>
              </a:rPr>
              <a:t>Guarantees that no numerical figure shown to the user is synthesized by generative probabilistic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05. Algorithm Development: Certified Mathematical 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05 | Algorithm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1. Transportation &amp; Residential Energy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Transportation Emission Equation: </a:t>
            </a:r>
            <a:r>
              <a:rPr>
                <a:solidFill>
                  <a:srgbClr val="334155"/>
                </a:solidFill>
              </a:rPr>
              <a:t>CO₂e_trans = Σ_i ( Distance_i × EF_i )
Inner product of multi-modal distance and DEFRA 2023 emission factors.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Electricity with Solar Net-Metering: </a:t>
            </a:r>
            <a:r>
              <a:rPr>
                <a:solidFill>
                  <a:srgbClr val="334155"/>
                </a:solidFill>
              </a:rPr>
              <a:t>CO₂e_elec = max(0, kWh_gross - kWh_solar) × 0.820 + ( kWh_solar × 0.040 )
Incorporates CEA India v19 grid baseline (0.820 kg/kWh) and solar PV embodied lifecycle credit.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Household Cooking Combustion: </a:t>
            </a:r>
            <a:r>
              <a:rPr>
                <a:solidFill>
                  <a:srgbClr val="334155"/>
                </a:solidFill>
              </a:rPr>
              <a:t>CO₂e_cooking = ( M_LPG × 2.983 ) + ( V_PNG × 1.968 )
Direct stoichiometric combustion certified under IPCC Tier-1 greenhouse gas inventory guidelines.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2. Dietary Lifecycles &amp; Circular Waste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Dietary Accounting (Science 2018): </a:t>
            </a:r>
            <a:r>
              <a:rPr>
                <a:solidFill>
                  <a:srgbClr val="334155"/>
                </a:solidFill>
              </a:rPr>
              <a:t>CO₂e_diet = EF_diet × 30.4167
Daily meta-analysis factors: Vegan (2.89 kg), Vegetarian (3.81 kg), Pescatarian (3.91 kg), Heavy Meat (7.19 kg).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Circular Waste with Avoidance Credits: </a:t>
            </a:r>
            <a:r>
              <a:rPr>
                <a:solidFill>
                  <a:srgbClr val="334155"/>
                </a:solidFill>
              </a:rPr>
              <a:t>CO₂e_waste = max(0, W_landfill × 0.586 - W_recycled × 0.320 - W_composted × 0.180)
Balances US EPA WARM landfill methane burden against certified avoidance credits.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Total Aggregated Carbon Footprint: </a:t>
            </a:r>
            <a:r>
              <a:rPr>
                <a:solidFill>
                  <a:srgbClr val="334155"/>
                </a:solidFill>
              </a:rPr>
              <a:t>CO₂e_total = CO₂e_trans + CO₂e_elec + CO₂e_cooking + CO₂e_diet + CO₂e_waste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05. Algorithm Development: Greedy Reduction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05 | Algorithm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Mathematical Knapsack Formulation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Target Savings Delta: </a:t>
            </a:r>
            <a:r>
              <a:rPr>
                <a:solidFill>
                  <a:srgbClr val="334155"/>
                </a:solidFill>
              </a:rPr>
              <a:t>Given baseline CO₂e and user reduction target T%:
Required Savings R_req = CO₂e_base × ( T / 100 )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Objective Function: </a:t>
            </a:r>
            <a:r>
              <a:rPr>
                <a:solidFill>
                  <a:srgbClr val="334155"/>
                </a:solidFill>
              </a:rPr>
              <a:t>Minimize cumulative difficulty:
min Σ_(a ∈ A) Difficulty(a)
subject to constraint: Σ_(a ∈ A) ΔCO₂e_a ≥ R_req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Greedy Priority Heuristic: </a:t>
            </a:r>
            <a:r>
              <a:rPr>
                <a:solidFill>
                  <a:srgbClr val="334155"/>
                </a:solidFill>
              </a:rPr>
              <a:t>Sorts viable catalog actions by efficiency ratio:
Ratio = Estimated Monthly Saving (kg) / Difficulty Level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Constraint Filters: </a:t>
            </a:r>
            <a:r>
              <a:rPr>
                <a:solidFill>
                  <a:srgbClr val="334155"/>
                </a:solidFill>
              </a:rPr>
              <a:t>Filters actions by user-selected maximum difficulty (Easy, Medium, Hard) and upfront capital budget.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Verified Mitigation Catalog (11 Actions)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Mode Shift to Metro Rail: </a:t>
            </a:r>
            <a:r>
              <a:rPr>
                <a:solidFill>
                  <a:srgbClr val="334155"/>
                </a:solidFill>
              </a:rPr>
              <a:t>-35.5 kg CO₂e/mo | Difficulty: Easy | Budget: Low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Electric Vehicle Transition: </a:t>
            </a:r>
            <a:r>
              <a:rPr>
                <a:solidFill>
                  <a:srgbClr val="334155"/>
                </a:solidFill>
              </a:rPr>
              <a:t>-58.5 kg CO₂e/mo | Difficulty: Medium | Budget: High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Rooftop Solar PV Installation: </a:t>
            </a:r>
            <a:r>
              <a:rPr>
                <a:solidFill>
                  <a:srgbClr val="334155"/>
                </a:solidFill>
              </a:rPr>
              <a:t>-117.0 kg CO₂e/mo | Difficulty: Medium | Budget: High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Plant-Based Dietary Shift: </a:t>
            </a:r>
            <a:r>
              <a:rPr>
                <a:solidFill>
                  <a:srgbClr val="334155"/>
                </a:solidFill>
              </a:rPr>
              <a:t>-28.0 kg CO₂e/mo | Difficulty: Easy | Budget: Zero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Home LED &amp; Inverter Upgrade: </a:t>
            </a:r>
            <a:r>
              <a:rPr>
                <a:solidFill>
                  <a:srgbClr val="334155"/>
                </a:solidFill>
              </a:rPr>
              <a:t>-20.5 kg CO₂e/mo | Difficulty: Easy | Budget: Low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Municipal Waste Composting: </a:t>
            </a:r>
            <a:r>
              <a:rPr>
                <a:solidFill>
                  <a:srgbClr val="334155"/>
                </a:solidFill>
              </a:rPr>
              <a:t>-5.4 kg CO₂e/mo | Difficulty: Easy | Budget: Zero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06. Implementation of Project Features: Reactive Gradio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06 | Project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3383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Tab 1: Carbon Calculator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Dual Input Mode: </a:t>
            </a:r>
            <a:r>
              <a:rPr>
                <a:solidFill>
                  <a:srgbClr val="334155"/>
                </a:solidFill>
              </a:rPr>
              <a:t>Form sliders &amp; NLP narrative text parser.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Sanity Validation: </a:t>
            </a:r>
            <a:r>
              <a:rPr>
                <a:solidFill>
                  <a:srgbClr val="334155"/>
                </a:solidFill>
              </a:rPr>
              <a:t>Instant bounds checks on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05840"/>
            <a:ext cx="3383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Tab 2: Visual Dashboard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Interactive Plotly: </a:t>
            </a:r>
            <a:r>
              <a:rPr>
                <a:solidFill>
                  <a:srgbClr val="334155"/>
                </a:solidFill>
              </a:rPr>
              <a:t>Category donut charts &amp; bar graphs.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Benchmarking: </a:t>
            </a:r>
            <a:r>
              <a:rPr>
                <a:solidFill>
                  <a:srgbClr val="334155"/>
                </a:solidFill>
              </a:rPr>
              <a:t>Direct comparison vs. India (~158 kg) &amp; World.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05840"/>
            <a:ext cx="3383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Tab 3: AI Carbon Advisor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Tool-Augmented: </a:t>
            </a:r>
            <a:r>
              <a:rPr>
                <a:solidFill>
                  <a:srgbClr val="334155"/>
                </a:solidFill>
              </a:rPr>
              <a:t>Grounded conversational chatbot.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Full Transparency: </a:t>
            </a:r>
            <a:r>
              <a:rPr>
                <a:solidFill>
                  <a:srgbClr val="334155"/>
                </a:solidFill>
              </a:rPr>
              <a:t>Displays live tool execution traces.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3383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Tab 4: What-If Simulator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Counterfactuals: </a:t>
            </a:r>
            <a:r>
              <a:rPr>
                <a:solidFill>
                  <a:srgbClr val="334155"/>
                </a:solidFill>
              </a:rPr>
              <a:t>Levers for EV, Solar PV, Transit, Diet.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Delta Visuals: </a:t>
            </a:r>
            <a:r>
              <a:rPr>
                <a:solidFill>
                  <a:srgbClr val="334155"/>
                </a:solidFill>
              </a:rPr>
              <a:t>Side-by-side baseline vs. simulated delta.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657600"/>
            <a:ext cx="3383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Tab 5: AI Reduction Planner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Custom Targets: </a:t>
            </a:r>
            <a:r>
              <a:rPr>
                <a:solidFill>
                  <a:srgbClr val="334155"/>
                </a:solidFill>
              </a:rPr>
              <a:t>Target % slider (10% to 40%).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Prioritized Action: </a:t>
            </a:r>
            <a:r>
              <a:rPr>
                <a:solidFill>
                  <a:srgbClr val="334155"/>
                </a:solidFill>
              </a:rPr>
              <a:t>Greedy minimal-effort action 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657600"/>
            <a:ext cx="33832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Tab 6: Progress Monitoring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Longitudinal Logs: </a:t>
            </a:r>
            <a:r>
              <a:rPr>
                <a:solidFill>
                  <a:srgbClr val="334155"/>
                </a:solidFill>
              </a:rPr>
              <a:t>Multi-month SQLite trend tracking.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Drift Alerts: </a:t>
            </a:r>
            <a:r>
              <a:rPr>
                <a:solidFill>
                  <a:srgbClr val="334155"/>
                </a:solidFill>
              </a:rPr>
              <a:t>Automated category surge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06. Implementation: Database ORM &amp; ML Feature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06 | Project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Relational Schema (SQLAlchemy + SQLite)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UserProfile Entity: </a:t>
            </a:r>
            <a:r>
              <a:rPr>
                <a:solidFill>
                  <a:srgbClr val="334155"/>
                </a:solidFill>
              </a:rPr>
              <a:t>Stores user demographics, household occupancy, and baseline emission targets.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ActivityLog Entity: </a:t>
            </a:r>
            <a:r>
              <a:rPr>
                <a:solidFill>
                  <a:srgbClr val="334155"/>
                </a:solidFill>
              </a:rPr>
              <a:t>Captures 14 normalized temporal features across transit distance, energy consumption, and circular waste metrics.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EmissionFactor Entity: </a:t>
            </a:r>
            <a:r>
              <a:rPr>
                <a:solidFill>
                  <a:srgbClr val="334155"/>
                </a:solidFill>
              </a:rPr>
              <a:t>Maintains certified conversion factors with provenance metadata, citation standards, and uncertainty bounds.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ReductionAction Entity: </a:t>
            </a:r>
            <a:r>
              <a:rPr>
                <a:solidFill>
                  <a:srgbClr val="334155"/>
                </a:solidFill>
              </a:rPr>
              <a:t>Maintains the 11 verified mitigation strategies with estimated monthly savings and difficulty ratings.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Time-Series ML Feature Pipeline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Feature Engineering: </a:t>
            </a:r>
            <a:r>
              <a:rPr>
                <a:solidFill>
                  <a:srgbClr val="334155"/>
                </a:solidFill>
              </a:rPr>
              <a:t>Constructs 10 predictive features including month indices, vehicle efficiency, fuel weights, and diet codes.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Autoregressive Lags: </a:t>
            </a:r>
            <a:r>
              <a:rPr>
                <a:solidFill>
                  <a:srgbClr val="334155"/>
                </a:solidFill>
              </a:rPr>
              <a:t>Computes Lag-1 monthly CO₂e emissions (CO₂e_t-1) capturing personal consumption inertia.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Rolling Statistics: </a:t>
            </a:r>
            <a:r>
              <a:rPr>
                <a:solidFill>
                  <a:srgbClr val="334155"/>
                </a:solidFill>
              </a:rPr>
              <a:t>Calculates 3-month rolling averages smoothing seasonal volatility.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Joblib Serialization: </a:t>
            </a:r>
            <a:r>
              <a:rPr>
                <a:solidFill>
                  <a:srgbClr val="334155"/>
                </a:solidFill>
              </a:rPr>
              <a:t>Trained models serialized as joblib artifacts for sub-50ms inference latency on standard CPU.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07. Results and Outcomes: ML Benchmarking &amp;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07 | Results and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00584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Algorithm Candidate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MAE (kg CO₂e)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RMSE (kg CO₂e)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Linear Regression (OLS)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5.2981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6.0170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0.9991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&lt; 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SELECTED OPTIMAL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9.3294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12.0151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0.9964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6.2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Benchmark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Gradient Boosted Trees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13.9555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17.9643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0.9920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4.8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Benchmark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13.7553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19.8122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0.9903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12.5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Benchmark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Decision Tree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18.1201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22.4660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0.9875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&lt; 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Benchmark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4297680"/>
            <a:ext cx="1069848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Why Linear Regression Outperformed Complex Tree Ensembles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Physical Manifold Alignment: </a:t>
            </a:r>
            <a:r>
              <a:rPr>
                <a:solidFill>
                  <a:srgbClr val="334155"/>
                </a:solidFill>
              </a:rPr>
              <a:t>Greenhouse gas emissions physically scale linearly with activity distance and fuel mass due to conservation of mass in combustion stoichiometry.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Elimination of Discretization Artifacts: </a:t>
            </a:r>
            <a:r>
              <a:rPr>
                <a:solidFill>
                  <a:srgbClr val="334155"/>
                </a:solidFill>
              </a:rPr>
              <a:t>Tree-based algorithms partition continuous feature spaces into orthogonal step functions, causing error bounds at boundaries. Linear regression perfectly maps the physical manifold.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07. Results and Outcomes: System Validation &amp;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07 | Results and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Comprehensive Automated Test Suite (15/15)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Deterministic Calculator (6 Tests): </a:t>
            </a:r>
            <a:r>
              <a:rPr>
                <a:solidFill>
                  <a:srgbClr val="334155"/>
                </a:solidFill>
              </a:rPr>
              <a:t>Verified exact stoichiometric calculations for transport, electricity with solar offsets, LPG/PNG cooking, diet, circular waste credits, and aggregation.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Multi-Agent Orchestration (5 Tests): </a:t>
            </a:r>
            <a:r>
              <a:rPr>
                <a:solidFill>
                  <a:srgbClr val="334155"/>
                </a:solidFill>
              </a:rPr>
              <a:t>Validated natural language entity parsing, physical bounds checking, hotspot ranking, greedy knapsack planning, and longitudinal monitoring.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Machine Learning Pipeline (4 Tests): </a:t>
            </a:r>
            <a:r>
              <a:rPr>
                <a:solidFill>
                  <a:srgbClr val="334155"/>
                </a:solidFill>
              </a:rPr>
              <a:t>Tested historical dataset integrity, metric computations (MAE/RMSE/R²), model selection, and predictive pipeline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What-If Simulation Empirical Case Studies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Case 1: 500 km/mo Commute (Petrol to EV): </a:t>
            </a:r>
            <a:r>
              <a:rPr>
                <a:solidFill>
                  <a:srgbClr val="334155"/>
                </a:solidFill>
              </a:rPr>
              <a:t>Emissions plunge from 85.0 kg to 26.5 kg CO₂e/mo — achieving an exact 68.8% transport reduction.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Case 2: 150 kWh Rooftop Solar Net-Metering: </a:t>
            </a:r>
            <a:r>
              <a:rPr>
                <a:solidFill>
                  <a:srgbClr val="334155"/>
                </a:solidFill>
              </a:rPr>
              <a:t>Replaces gross grid emissions (123.0 kg) with solar lifecycle emissions (6.0 kg), yielding a 117.0 kg net monthly reduction.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Case 3: Dietary Transition (Meat to Veg): </a:t>
            </a:r>
            <a:r>
              <a:rPr>
                <a:solidFill>
                  <a:srgbClr val="334155"/>
                </a:solidFill>
              </a:rPr>
              <a:t>Saves 55.4 kg CO₂e/mo (-32.3% food footprint reduction) without altering calorie intake.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Case 4: Combined Decarbonization Plan: </a:t>
            </a:r>
            <a:r>
              <a:rPr>
                <a:solidFill>
                  <a:srgbClr val="334155"/>
                </a:solidFill>
              </a:rPr>
              <a:t>Demonstrates achieving a 35% reduction target within 3 months using low-difficulty interventions.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08. Analysis of Developed Solution: Strengths &amp; 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Topic 08 | Analysis &amp;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t>Architectural Strengths &amp; Moats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Zero Arithmetic Hallucination: </a:t>
            </a:r>
            <a:r>
              <a:rPr>
                <a:solidFill>
                  <a:srgbClr val="334155"/>
                </a:solidFill>
              </a:rPr>
              <a:t>Provably eliminates LLM math errors by separating language reasoning from deterministic calculation engines.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Grounded Scientific Provenance: </a:t>
            </a:r>
            <a:r>
              <a:rPr>
                <a:solidFill>
                  <a:srgbClr val="334155"/>
                </a:solidFill>
              </a:rPr>
              <a:t>Every factor linked to certified sources (CEA India v19, IPCC, DEFRA, Science 2018).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Sub-Second Execution Latency: </a:t>
            </a:r>
            <a:r>
              <a:rPr>
                <a:solidFill>
                  <a:srgbClr val="334155"/>
                </a:solidFill>
              </a:rPr>
              <a:t>&lt; 20 ms for carbon accounting, &lt; 50 ms for ML forecasting; runs effortlessly on standard CPUs.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Privacy &amp; Zero Cloud Dependency: </a:t>
            </a:r>
            <a:r>
              <a:rPr>
                <a:solidFill>
                  <a:srgbClr val="334155"/>
                </a:solidFill>
              </a:rPr>
              <a:t>100% offline capable; personal utility records never leave the local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B91C1C"/>
                </a:solidFill>
                <a:latin typeface="Times New Roman"/>
              </a:defRPr>
            </a:pPr>
            <a:r>
              <a:t>Limitations &amp; Threat Mitigations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Limitation: Self-Reported Activity Bias: </a:t>
            </a:r>
            <a:r>
              <a:rPr>
                <a:solidFill>
                  <a:srgbClr val="334155"/>
                </a:solidFill>
              </a:rPr>
              <a:t>Users may underestimate travel distances or utility bill metrics.
Mitigation: Data Validation Agent enforces physical sanity bounds and flags outliers.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Limitation: Static Grid Factor (0.82 kg/kWh): </a:t>
            </a:r>
            <a:r>
              <a:rPr>
                <a:solidFill>
                  <a:srgbClr val="334155"/>
                </a:solidFill>
              </a:rPr>
              <a:t>Reflects national average rather than hourly dispatch fluctuations.
Mitigation: Extensible SQLite factor schema supports real-time grid API updates.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Limitation: Tabular ML Dataset Size: </a:t>
            </a:r>
            <a:r>
              <a:rPr>
                <a:solidFill>
                  <a:srgbClr val="334155"/>
                </a:solidFill>
              </a:rPr>
              <a:t>Requires longitudinal multi-month history for deep personalization.
Mitigation: Feature engine bootstraps baseline forecasts via national averages.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Conclusion &amp; Future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Project Conclusions &amp; Academic Impact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Production-Grade Achievement: </a:t>
            </a:r>
            <a:r>
              <a:rPr>
                <a:solidFill>
                  <a:srgbClr val="334155"/>
                </a:solidFill>
              </a:rPr>
              <a:t>Successfully engineered, validated, and deployed an academic-grade agentic AI carbon accounting platform.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Hybrid Paradigm Proven: </a:t>
            </a:r>
            <a:r>
              <a:rPr>
                <a:solidFill>
                  <a:srgbClr val="334155"/>
                </a:solidFill>
              </a:rPr>
              <a:t>Demonstrated that combining deterministic Python calculation engines with ML forecasting and NLP agents is dramatically superior to standalone LLMs.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Empirical Validation: </a:t>
            </a:r>
            <a:r>
              <a:rPr>
                <a:solidFill>
                  <a:srgbClr val="334155"/>
                </a:solidFill>
              </a:rPr>
              <a:t>15/15 automated tests passed; Linear Regression achieved near-perfect goodness-of-fit (R² = 0.9991).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Immediate Practical Utility: </a:t>
            </a:r>
            <a:r>
              <a:rPr>
                <a:solidFill>
                  <a:srgbClr val="334155"/>
                </a:solidFill>
              </a:rPr>
              <a:t>Ready for campus deployment at Symbiosis Institute of Technology and corporate ESG Scope 3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2120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Future Engineering Roadmap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IoT Smart Energy Meter Telemetry: </a:t>
            </a:r>
            <a:r>
              <a:rPr>
                <a:solidFill>
                  <a:srgbClr val="334155"/>
                </a:solidFill>
              </a:rPr>
              <a:t>Direct streaming of residential electricity meter readings via MQTT/Modbus protocols, eliminating manual entry.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Banking Transaction OCR &amp; Categorization: </a:t>
            </a:r>
            <a:r>
              <a:rPr>
                <a:solidFill>
                  <a:srgbClr val="334155"/>
                </a:solidFill>
              </a:rPr>
              <a:t>Integration with digital banking APIs / receipt scanning to automatically classify expenses into emission footprints.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Dynamic Real-Time NLDC Grid APIs: </a:t>
            </a:r>
            <a:r>
              <a:rPr>
                <a:solidFill>
                  <a:srgbClr val="334155"/>
                </a:solidFill>
              </a:rPr>
              <a:t>Live integration with the National Load Despatch Centre to modulate grid factors based on real-time solar/wind dispatch.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Cross-Platform Mobile Application: </a:t>
            </a:r>
            <a:r>
              <a:rPr>
                <a:solidFill>
                  <a:srgbClr val="334155"/>
                </a:solidFill>
              </a:rPr>
              <a:t>Developing a native Flutter / React Native mobile app interfacing with the Python backend.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"/>
            <a:ext cx="13258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7315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04430"/>
                </a:solidFill>
                <a:latin typeface="Times New Roman"/>
              </a:defRPr>
            </a:pPr>
            <a:r>
              <a:t>Thank You &amp; Evaluation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0" y="13716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Verdana"/>
              </a:defRPr>
            </a:pPr>
            <a:r>
              <a:t>Thank You &amp;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88952" cy="18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8686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Symbiosis Institute of Technology, Nagpur | B.Tech CSE | Agentic AI Personal Carbon Footprint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37376"/>
            <a:ext cx="914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05840"/>
            <a:ext cx="59436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Times New Roman"/>
              </a:defRPr>
            </a:pPr>
            <a:r>
              <a:t>Project Details &amp; Evaluator Discussion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Project Title: </a:t>
            </a:r>
            <a:r>
              <a:rPr>
                <a:solidFill>
                  <a:srgbClr val="334155"/>
                </a:solidFill>
              </a:rPr>
              <a:t>Agentic AI Personal Carbon Footprint Calculator and Intelligent Emission Reduction System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Presenter: </a:t>
            </a:r>
            <a:r>
              <a:rPr>
                <a:solidFill>
                  <a:srgbClr val="334155"/>
                </a:solidFill>
              </a:rPr>
              <a:t>Shantanu Jumale (PRN: 24070521096)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Degree &amp; Semester: </a:t>
            </a:r>
            <a:r>
              <a:rPr>
                <a:solidFill>
                  <a:srgbClr val="334155"/>
                </a:solidFill>
              </a:rPr>
              <a:t>B.Tech Computer Science &amp; Engineering, Semester 5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Course: </a:t>
            </a:r>
            <a:r>
              <a:rPr>
                <a:solidFill>
                  <a:srgbClr val="334155"/>
                </a:solidFill>
              </a:rPr>
              <a:t>Flexi Credit Course: Agentic AI &amp; Automation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Institution: </a:t>
            </a:r>
            <a:r>
              <a:rPr>
                <a:solidFill>
                  <a:srgbClr val="334155"/>
                </a:solidFill>
              </a:rPr>
              <a:t>Symbiosis Institute of Technology (SIT), Nagpur Campus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Project Guide: </a:t>
            </a:r>
            <a:r>
              <a:rPr>
                <a:solidFill>
                  <a:srgbClr val="334155"/>
                </a:solidFill>
              </a:rPr>
              <a:t>Dr. Shreyash Hole, Assistant Professor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Source Code Repository: </a:t>
            </a:r>
            <a:r>
              <a:rPr>
                <a:solidFill>
                  <a:srgbClr val="334155"/>
                </a:solidFill>
              </a:rPr>
              <a:t>https://github.com/Shantanu-Jumale/Agentic-AI-Carbon-Footprint-System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005840"/>
            <a:ext cx="4480560" cy="5120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59669"/>
                </a:solidFill>
                <a:latin typeface="Times New Roman"/>
              </a:defRPr>
            </a:pPr>
            <a:r>
              <a:t>Interactive Evaluation &amp; Demo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Live Demonstration: </a:t>
            </a:r>
            <a:r>
              <a:rPr>
                <a:solidFill>
                  <a:srgbClr val="334155"/>
                </a:solidFill>
              </a:rPr>
              <a:t>All 6 Gradio tabs, ML models, and What-If simulators are running locally and available for live demonstration.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Scientific Integrity: </a:t>
            </a:r>
            <a:r>
              <a:rPr>
                <a:solidFill>
                  <a:srgbClr val="334155"/>
                </a:solidFill>
              </a:rPr>
              <a:t>Complete mathematical provenance verifiable in SQLite.</a:t>
            </a:r>
          </a:p>
          <a:p>
            <a:pPr>
              <a:spcAft>
                <a:spcPts val="500"/>
              </a:spcAft>
              <a:defRPr sz="1150">
                <a:latin typeface="Times New Roman"/>
              </a:defRPr>
            </a:pPr>
            <a:r>
              <a:rPr b="1">
                <a:solidFill>
                  <a:srgbClr val="104430"/>
                </a:solidFill>
              </a:rPr>
              <a:t>•  </a:t>
            </a:r>
            <a:r>
              <a:rPr b="1">
                <a:solidFill>
                  <a:srgbClr val="0F172A"/>
                </a:solidFill>
              </a:rPr>
              <a:t>Open for Discussion: </a:t>
            </a:r>
            <a:r>
              <a:rPr>
                <a:solidFill>
                  <a:srgbClr val="334155"/>
                </a:solidFill>
              </a:rPr>
              <a:t>Welcoming questions, feedback, and discussion from esteemed evaluators.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3754</Words>
  <Application>Microsoft Office PowerPoint</Application>
  <PresentationFormat>Widescreen</PresentationFormat>
  <Paragraphs>328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Shantanu Jumale</cp:lastModifiedBy>
  <cp:revision>2</cp:revision>
  <dcterms:created xsi:type="dcterms:W3CDTF">2024-06-03T04:50:38Z</dcterms:created>
  <dcterms:modified xsi:type="dcterms:W3CDTF">2026-09-20T12:12:46Z</dcterms:modified>
</cp:coreProperties>
</file>